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ProofLens answers one narrow question: does the evidence I supplied actually support the claim I am making?</a:t>
            </a:r>
          </a:p>
          <a:p>
            <a:r>
              <a:t>You give it a claim and your source documents. It gives back a verdict, an explanation of what the source does and does not establish, and the exact passage and page it relied on.</a:t>
            </a:r>
          </a:p>
          <a:p>
            <a:r>
              <a:t>Everything on these slides comes from the running product and the repository. The screenshot on the right is a real result from a live run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problem is not fake sources. It is real sources being stretched.</a:t>
            </a:r>
          </a:p>
          <a:p>
            <a:r>
              <a:t>A study finds an association, and the claim says it proves causation. A report says 1,200 participants and the claim says 10,000. A sentence says something is not established, and it gets quoted as if it were.</a:t>
            </a:r>
          </a:p>
          <a:p>
            <a:r>
              <a:t>The source exists, the citation looks fine, and the claim still is not supported. Checking that by hand means reading closely every time.</a:t>
            </a:r>
          </a:p>
          <a:p>
            <a:r>
              <a:t>The example here is the one we will run live: a sample document written for the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ProofLens is not a chatbot and not a web search. It only reasons over the evidence you attach.</a:t>
            </a:r>
          </a:p>
          <a:p>
            <a:r>
              <a:t>The label is the least interesting part. The explanation is the product: what the source actually says, why the claim does or does not match it, what the source does not establish, and a link to the exact passage.</a:t>
            </a:r>
          </a:p>
          <a:p>
            <a:r>
              <a:t>There are four verdicts. Insufficient evidence is its own outcome, so "the source does not cover this" is never confused with "the source says the opposite".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pipeline is what the code actually does.</a:t>
            </a:r>
          </a:p>
          <a:p>
            <a:r>
              <a:t>First the claim is analysed: is it absolute or hedged, does it assert causation, what numbers, dates and names does it contain.</a:t>
            </a:r>
          </a:p>
          <a:p>
            <a:r>
              <a:t>Then deterministic checks compare those against the evidence directly, without any model.</a:t>
            </a:r>
          </a:p>
          <a:p>
            <a:r>
              <a:t>The AI model then reasons over the supplied passages only, and has to answer in a strict JSON schema.</a:t>
            </a:r>
          </a:p>
          <a:p>
            <a:r>
              <a:t>The backend validates that answer. References to passages that were not supplied are dropped. Quotes have to appear verbatim in the stored passage. And a hard conflict found by the checks, such as a number mismatch, overrides a model that says supported.</a:t>
            </a:r>
          </a:p>
          <a:p>
            <a:r>
              <a:t>If the AI is unavailable, the user sees an unavailable state. We never show an invented verdict.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actual output from the live run, word for word. Model wording varies from run to run, but these fields are always there.</a:t>
            </a:r>
          </a:p>
          <a:p>
            <a:r>
              <a:t>A plain label would just say contradicted. ProofLens explains the gap: the source found an association, the claim says the study proves causation.</a:t>
            </a:r>
          </a:p>
          <a:p>
            <a:r>
              <a:t>It also says what you can honestly conclude from this source, which is the useful part for the person writing the claim.</a:t>
            </a:r>
          </a:p>
          <a:p>
            <a:r>
              <a:t>And Show me why points to the exact sentence on page 3 that the verdict rests on.</a:t>
            </a:r>
          </a:p>
          <a:p>
            <a:r>
              <a:t>The deterministic checks flagged the same thing independently: stronger language than the source, causation versus associated.</a:t>
            </a:r>
          </a:p>
          <a:p>
            <a:r>
              <a:t>The document is a sample written for this demo, and it is labelled as fictional data on page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real screenshots from the web app running locally today, not mock-ups.</a:t>
            </a:r>
          </a:p>
          <a:p>
            <a:r>
              <a:t>Large on the left: the result page. Why the claim does not fully match, the unsupported portion, and the Show me why column, where each cited passage has a role, supports or conflicts, and a page number.</a:t>
            </a:r>
          </a:p>
          <a:p>
            <a:r>
              <a:t>Top right: clicking open the source takes you to the document viewer on that page with the cited sentence highlighted.</a:t>
            </a:r>
          </a:p>
          <a:p>
            <a:r>
              <a:t>Bottom right: evidence is attached by page and passage, and accounts are confirmed with a 6-digit email code.</a:t>
            </a:r>
          </a:p>
          <a:p>
            <a:r>
              <a:t>There is also an Expo mobile app with the same flow; we have not captured it on a device, so it is not shown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Under the hood this is a real product. The FastAPI backend owns the verdict. PostgreSQL stores claims, documents, pages, evidence and every verification with a snapshot of the evidence it used.</a:t>
            </a:r>
          </a:p>
          <a:p>
            <a:r>
              <a:t>PDFs are parsed in a separate subprocess with a timeout and memory limit, so a hostile PDF cannot take the server down.</a:t>
            </a:r>
          </a:p>
          <a:p>
            <a:r>
              <a:t>The AI layer is one interface with four providers behind it. Which one runs is configuration only, and each provider can have backup models that are tried in order.</a:t>
            </a:r>
          </a:p>
          <a:p>
            <a:r>
              <a:t>Security basics are done properly: Argon2id passwords, hashed tokens, revocation, rate limits on authentication and OTP, and ownership checks so one user can never read another user's claims or documents.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what we actually verified today.</a:t>
            </a:r>
          </a:p>
          <a:p>
            <a:r>
              <a:t>297 backend tests pass: 186 unit tests and 111 integration tests that run against a real PostgreSQL database. 47 of those are security tests.</a:t>
            </a:r>
          </a:p>
          <a:p>
            <a:r>
              <a:t>Three AI providers returned validated verdicts in live calls today: Gemini, NVIDIA NIM and Groq. Ollama is implemented but we did not run it.</a:t>
            </a:r>
          </a:p>
          <a:p>
            <a:r>
              <a:t>And we ran the full user journey in the browser, from registration and the email code to the verdict and the highlighted source.</a:t>
            </a:r>
          </a:p>
          <a:p>
            <a:r>
              <a:t>Being honest about gaps: the web and mobile apps have no automated tests yet, and there are no usage or accuracy figures because the product has not been benchmarked.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does real work in ProofLens, but it does not get the last word.</a:t>
            </a:r>
          </a:p>
          <a:p>
            <a:r>
              <a:t>The model only sees the passages you supplied, and the prompt tells it to treat them as untrusted data, so a document cannot instruct the model.</a:t>
            </a:r>
          </a:p>
          <a:p>
            <a:r>
              <a:t>Its answer must match a strict schema. We validate it. Citations that point at passages we never gave it are dropped, and quotes have to appear verbatim.</a:t>
            </a:r>
          </a:p>
          <a:p>
            <a:r>
              <a:t>When the deterministic checks find a hard conflict, like the wrong number, they overrule a model that says supported.</a:t>
            </a:r>
          </a:p>
          <a:p>
            <a:r>
              <a:t>And when the AI is down, we say so. We would rather show "unavailable" than a verdict nobody can stand behind.</a:t>
            </a:r>
          </a:p>
          <a:p>
            <a:r>
              <a:t>Confidence is shown as how strongly the evidence settles the claim, not the probability the claim is true, and the app says exactly that on 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Today ProofLens does the full loop: a claim, your evidence, a verdict with an explanation, and the exact source passage.</a:t>
            </a:r>
          </a:p>
          <a:p>
            <a:r>
              <a:t>Next, in order: suggest the relevant passages automatically, since the page-ranking code already exists but is not yet connected; confirm that a chosen passage really appears on the page it cites; split claims with several parts and check each one; and add tests for the web and mobile apps plus a proper accuracy benchmark.</a:t>
            </a:r>
          </a:p>
          <a:p>
            <a:r>
              <a:t>The goal stays the same: help people say exactly what their evidence supports, and show the page that proves it. Thank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5.jpg"/><Relationship Id="rId6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583680" y="-2286000"/>
            <a:ext cx="7772400" cy="7772400"/>
          </a:xfrm>
          <a:prstGeom prst="ellipse">
            <a:avLst/>
          </a:prstGeom>
          <a:solidFill>
            <a:srgbClr val="2A17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731520"/>
            <a:ext cx="548640" cy="548640"/>
          </a:xfrm>
          <a:prstGeom prst="ellipse">
            <a:avLst/>
          </a:prstGeom>
          <a:noFill/>
          <a:ln w="68580">
            <a:solidFill>
              <a:srgbClr val="F2F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" y="868680"/>
            <a:ext cx="274320" cy="274320"/>
          </a:xfrm>
          <a:prstGeom prst="ellipse">
            <a:avLst/>
          </a:prstGeom>
          <a:solidFill>
            <a:srgbClr val="E55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17320" y="73152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 i="0">
                <a:solidFill>
                  <a:srgbClr val="F2F0EA"/>
                </a:solidFill>
                <a:latin typeface="Bricolage Grotesque"/>
              </a:rPr>
              <a:t>ProofLens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603504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4400" b="1" i="0">
                <a:solidFill>
                  <a:srgbClr val="F2F0EA"/>
                </a:solidFill>
                <a:latin typeface="Bricolage Grotesque"/>
              </a:rPr>
              <a:t>Check what your </a:t>
            </a:r>
            <a:r>
              <a:rPr sz="4400" b="1" i="0">
                <a:solidFill>
                  <a:srgbClr val="FF6A3D"/>
                </a:solidFill>
                <a:latin typeface="Bricolage Grotesque"/>
              </a:rPr>
              <a:t>evidence</a:t>
            </a:r>
            <a:r>
              <a:rPr sz="4400" b="1" i="0">
                <a:solidFill>
                  <a:srgbClr val="F2F0EA"/>
                </a:solidFill>
                <a:latin typeface="Bricolage Grotesque"/>
              </a:rPr>
              <a:t> actually supports.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343400"/>
            <a:ext cx="5486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9A9AA3"/>
                </a:solidFill>
                <a:latin typeface="Geist"/>
              </a:rPr>
              <a:t>Evidence-grounded claim verification. Enter a claim, add your documents, and get a verdict that explains itself and points back to the page it came from.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8978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9A9AA3"/>
                </a:solidFill>
                <a:latin typeface="Geist Mono"/>
              </a:rPr>
              <a:t>GOMYCODE NIGERIA  ·  COME BUILD WITH AI HACKATHON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48856" y="1362456"/>
            <a:ext cx="4910328" cy="2972788"/>
          </a:xfrm>
          <a:prstGeom prst="roundRect">
            <a:avLst>
              <a:gd name="adj" fmla="val 6000"/>
            </a:avLst>
          </a:prstGeom>
          <a:solidFill>
            <a:srgbClr val="242429"/>
          </a:solidFill>
          <a:ln w="12700">
            <a:solidFill>
              <a:srgbClr val="333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verdic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417320"/>
            <a:ext cx="4800600" cy="286306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903720" y="443484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9A9AA3"/>
                </a:solidFill>
                <a:latin typeface="Geist Mono"/>
              </a:rPr>
              <a:t>Real result screen · live run, 27 Sep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256032" cy="256032"/>
          </a:xfrm>
          <a:prstGeom prst="ellipse">
            <a:avLst/>
          </a:prstGeom>
          <a:noFill/>
          <a:ln w="32004">
            <a:solidFill>
              <a:srgbClr val="F2F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12647" y="521208"/>
            <a:ext cx="128016" cy="128016"/>
          </a:xfrm>
          <a:prstGeom prst="ellipse">
            <a:avLst/>
          </a:prstGeom>
          <a:solidFill>
            <a:srgbClr val="E55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572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F2F0EA"/>
                </a:solidFill>
                <a:latin typeface="Bricolage Grotesque"/>
              </a:rPr>
              <a:t>ProofLens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457200"/>
            <a:ext cx="12161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2000"/>
              </a:lnSpc>
            </a:pPr>
            <a:r>
              <a:rPr sz="1100" b="0" i="0">
                <a:solidFill>
                  <a:srgbClr val="9A9AA3"/>
                </a:solidFill>
                <a:latin typeface="Geist Mono"/>
              </a:rPr>
              <a:t>02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FF6A3D"/>
                </a:solidFill>
                <a:latin typeface="Geist Mono"/>
              </a:rP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F2F0EA"/>
                </a:solidFill>
                <a:latin typeface="Bricolage Grotesque"/>
              </a:rPr>
              <a:t>A source can be real and still not say what the claim says.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06040"/>
            <a:ext cx="5120640" cy="2377440"/>
          </a:xfrm>
          <a:prstGeom prst="roundRect">
            <a:avLst>
              <a:gd name="adj" fmla="val 6000"/>
            </a:avLst>
          </a:prstGeom>
          <a:solidFill>
            <a:srgbClr val="1B1B1F"/>
          </a:solidFill>
          <a:ln w="12700">
            <a:solidFill>
              <a:srgbClr val="333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8346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9A9AA3"/>
                </a:solidFill>
                <a:latin typeface="Geist Mono"/>
              </a:rPr>
              <a:t>THE CLAIM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200400"/>
            <a:ext cx="45720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F2F0EA"/>
                </a:solidFill>
                <a:latin typeface="Bricolage Grotesque"/>
              </a:rPr>
              <a:t>“The study </a:t>
            </a:r>
            <a:r>
              <a:rPr sz="2200" b="1" i="0">
                <a:solidFill>
                  <a:srgbClr val="FF6A3D"/>
                </a:solidFill>
                <a:latin typeface="Bricolage Grotesque"/>
              </a:rPr>
              <a:t>proves</a:t>
            </a:r>
            <a:r>
              <a:rPr sz="2200" b="0" i="0">
                <a:solidFill>
                  <a:srgbClr val="F2F0EA"/>
                </a:solidFill>
                <a:latin typeface="Bricolage Grotesque"/>
              </a:rPr>
              <a:t> that drinking coffee every day </a:t>
            </a:r>
            <a:r>
              <a:rPr sz="2200" b="1" i="0">
                <a:solidFill>
                  <a:srgbClr val="FF6A3D"/>
                </a:solidFill>
                <a:latin typeface="Bricolage Grotesque"/>
              </a:rPr>
              <a:t>causes</a:t>
            </a:r>
            <a:r>
              <a:rPr sz="2200" b="0" i="0">
                <a:solidFill>
                  <a:srgbClr val="F2F0EA"/>
                </a:solidFill>
                <a:latin typeface="Bricolage Grotesque"/>
              </a:rPr>
              <a:t> a lower risk of heart disease.”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2606040"/>
            <a:ext cx="5120640" cy="2377440"/>
          </a:xfrm>
          <a:prstGeom prst="roundRect">
            <a:avLst>
              <a:gd name="adj" fmla="val 6000"/>
            </a:avLst>
          </a:prstGeom>
          <a:solidFill>
            <a:srgbClr val="1B1B1F"/>
          </a:solidFill>
          <a:ln w="12700">
            <a:solidFill>
              <a:srgbClr val="333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12280" y="28346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9A9AA3"/>
                </a:solidFill>
                <a:latin typeface="Geist Mono"/>
              </a:rPr>
              <a:t>THE SOURCE  ·  PAGE 2 AND PAGE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80" y="3200400"/>
            <a:ext cx="45720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F2F0EA"/>
                </a:solidFill>
                <a:latin typeface="Geist"/>
              </a:rPr>
              <a:t>“Daily coffee consumption was </a:t>
            </a:r>
            <a:r>
              <a:rPr sz="1700" b="1" i="0">
                <a:solidFill>
                  <a:srgbClr val="3DD68C"/>
                </a:solidFill>
                <a:latin typeface="Geist"/>
              </a:rPr>
              <a:t>associated with</a:t>
            </a:r>
            <a:r>
              <a:rPr sz="1700" b="0" i="0">
                <a:solidFill>
                  <a:srgbClr val="F2F0EA"/>
                </a:solidFill>
                <a:latin typeface="Geist"/>
              </a:rPr>
              <a:t> a lower risk of heart disease.”</a:t>
            </a:r>
          </a:p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F2F0EA"/>
                </a:solidFill>
                <a:latin typeface="Geist"/>
              </a:rPr>
              <a:t>“…the findings </a:t>
            </a:r>
            <a:r>
              <a:rPr sz="1700" b="1" i="0">
                <a:solidFill>
                  <a:srgbClr val="F05D5E"/>
                </a:solidFill>
                <a:latin typeface="Geist"/>
              </a:rPr>
              <a:t>do not establish</a:t>
            </a:r>
            <a:r>
              <a:rPr sz="1700" b="0" i="0">
                <a:solidFill>
                  <a:srgbClr val="F2F0EA"/>
                </a:solidFill>
                <a:latin typeface="Geist"/>
              </a:rPr>
              <a:t> that coffee causes a lower risk.”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852160" y="3657600"/>
            <a:ext cx="457200" cy="274320"/>
          </a:xfrm>
          <a:prstGeom prst="rightArrow">
            <a:avLst/>
          </a:prstGeom>
          <a:solidFill>
            <a:srgbClr val="FF6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530352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 i="0">
                <a:solidFill>
                  <a:srgbClr val="9A9AA3"/>
                </a:solidFill>
                <a:latin typeface="Geist"/>
              </a:rPr>
              <a:t>The gap is easy to miss when reading quickly: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760720"/>
            <a:ext cx="3081527" cy="310896"/>
          </a:xfrm>
          <a:prstGeom prst="roundRect">
            <a:avLst>
              <a:gd name="adj" fmla="val 50000"/>
            </a:avLst>
          </a:prstGeom>
          <a:solidFill>
            <a:srgbClr val="242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5760720"/>
            <a:ext cx="3081527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1" i="0">
                <a:solidFill>
                  <a:srgbClr val="F2F0EA"/>
                </a:solidFill>
                <a:latin typeface="Geist"/>
              </a:rPr>
              <a:t>Stronger language than the source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13048" y="5760720"/>
            <a:ext cx="2999232" cy="310896"/>
          </a:xfrm>
          <a:prstGeom prst="roundRect">
            <a:avLst>
              <a:gd name="adj" fmla="val 50000"/>
            </a:avLst>
          </a:prstGeom>
          <a:solidFill>
            <a:srgbClr val="242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13048" y="5760720"/>
            <a:ext cx="299923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1" i="0">
                <a:solidFill>
                  <a:srgbClr val="F2F0EA"/>
                </a:solidFill>
                <a:latin typeface="Geist"/>
              </a:rPr>
              <a:t>A different number, date or name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95160" y="5760720"/>
            <a:ext cx="2670048" cy="310896"/>
          </a:xfrm>
          <a:prstGeom prst="roundRect">
            <a:avLst>
              <a:gd name="adj" fmla="val 50000"/>
            </a:avLst>
          </a:prstGeom>
          <a:solidFill>
            <a:srgbClr val="242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95160" y="5760720"/>
            <a:ext cx="267004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1" i="0">
                <a:solidFill>
                  <a:srgbClr val="F2F0EA"/>
                </a:solidFill>
                <a:latin typeface="Geist"/>
              </a:rPr>
              <a:t>A negation read as agreement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256032" cy="256032"/>
          </a:xfrm>
          <a:prstGeom prst="ellipse">
            <a:avLst/>
          </a:prstGeom>
          <a:noFill/>
          <a:ln w="32004">
            <a:solidFill>
              <a:srgbClr val="F2F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12647" y="521208"/>
            <a:ext cx="128016" cy="128016"/>
          </a:xfrm>
          <a:prstGeom prst="ellipse">
            <a:avLst/>
          </a:prstGeom>
          <a:solidFill>
            <a:srgbClr val="E55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572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F2F0EA"/>
                </a:solidFill>
                <a:latin typeface="Bricolage Grotesque"/>
              </a:rPr>
              <a:t>ProofLens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457200"/>
            <a:ext cx="12161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2000"/>
              </a:lnSpc>
            </a:pPr>
            <a:r>
              <a:rPr sz="1100" b="0" i="0">
                <a:solidFill>
                  <a:srgbClr val="9A9AA3"/>
                </a:solidFill>
                <a:latin typeface="Geist Mono"/>
              </a:rPr>
              <a:t>03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FF6A3D"/>
                </a:solidFill>
                <a:latin typeface="Geist Mono"/>
              </a:rPr>
              <a:t>THE PRODUCT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F2F0EA"/>
                </a:solidFill>
                <a:latin typeface="Bricolage Grotesque"/>
              </a:rPr>
              <a:t>Claim + evidence in. An explained verdict out.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4028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 i="0">
                <a:solidFill>
                  <a:srgbClr val="9A9AA3"/>
                </a:solidFill>
                <a:latin typeface="Geist"/>
              </a:rPr>
              <a:t>ProofLens tests a claim against the documents you supply and explains what that evidence establishes.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063240"/>
            <a:ext cx="3108960" cy="1051560"/>
          </a:xfrm>
          <a:prstGeom prst="roundRect">
            <a:avLst>
              <a:gd name="adj" fmla="val 6000"/>
            </a:avLst>
          </a:prstGeom>
          <a:solidFill>
            <a:srgbClr val="1B1B1F"/>
          </a:solidFill>
          <a:ln w="12700">
            <a:solidFill>
              <a:srgbClr val="333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2461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 i="0">
                <a:solidFill>
                  <a:srgbClr val="F2F0EA"/>
                </a:solidFill>
                <a:latin typeface="Bricolage Grotesque"/>
              </a:rPr>
              <a:t>Your claim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630168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9A9AA3"/>
                </a:solidFill>
                <a:latin typeface="Geist"/>
              </a:rPr>
              <a:t>One plain statement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65960" y="41605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600" b="0" i="0">
                <a:solidFill>
                  <a:srgbClr val="9A9AA3"/>
                </a:solidFill>
                <a:latin typeface="Bricolage Grotesque"/>
              </a:rPr>
              <a:t>+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663440"/>
            <a:ext cx="3108960" cy="1051560"/>
          </a:xfrm>
          <a:prstGeom prst="roundRect">
            <a:avLst>
              <a:gd name="adj" fmla="val 6000"/>
            </a:avLst>
          </a:prstGeom>
          <a:solidFill>
            <a:srgbClr val="1B1B1F"/>
          </a:solidFill>
          <a:ln w="12700">
            <a:solidFill>
              <a:srgbClr val="333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8463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 i="0">
                <a:solidFill>
                  <a:srgbClr val="F2F0EA"/>
                </a:solidFill>
                <a:latin typeface="Bricolage Grotesque"/>
              </a:rPr>
              <a:t>Your evidence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230368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9A9AA3"/>
                </a:solidFill>
                <a:latin typeface="Geist"/>
              </a:rPr>
              <a:t>PDF, TXT, MD or CSV · passage + page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840480" y="4251960"/>
            <a:ext cx="548640" cy="274320"/>
          </a:xfrm>
          <a:prstGeom prst="rightArrow">
            <a:avLst/>
          </a:prstGeom>
          <a:solidFill>
            <a:srgbClr val="FF6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72000" y="3566160"/>
            <a:ext cx="2286000" cy="1645920"/>
          </a:xfrm>
          <a:prstGeom prst="roundRect">
            <a:avLst>
              <a:gd name="adj" fmla="val 6000"/>
            </a:avLst>
          </a:prstGeom>
          <a:solidFill>
            <a:srgbClr val="E5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3566160"/>
            <a:ext cx="2286000" cy="1645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2400" b="1" i="0">
                <a:solidFill>
                  <a:srgbClr val="F2F0EA"/>
                </a:solidFill>
                <a:latin typeface="Bricolage Grotesque"/>
              </a:rPr>
              <a:t>ProofLens</a:t>
            </a:r>
          </a:p>
          <a:p>
            <a:pPr algn="ctr">
              <a:lnSpc>
                <a:spcPct val="112000"/>
              </a:lnSpc>
            </a:pPr>
            <a:r>
              <a:rPr sz="1300" b="0" i="0">
                <a:solidFill>
                  <a:srgbClr val="FFE3D8"/>
                </a:solidFill>
                <a:latin typeface="Geist"/>
              </a:rPr>
              <a:t>checks + reasoning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040880" y="4251960"/>
            <a:ext cx="548640" cy="274320"/>
          </a:xfrm>
          <a:prstGeom prst="rightArrow">
            <a:avLst/>
          </a:prstGeom>
          <a:solidFill>
            <a:srgbClr val="FF6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772400" y="3017520"/>
            <a:ext cx="3840480" cy="822960"/>
          </a:xfrm>
          <a:prstGeom prst="roundRect">
            <a:avLst>
              <a:gd name="adj" fmla="val 6000"/>
            </a:avLst>
          </a:prstGeom>
          <a:solidFill>
            <a:srgbClr val="1B1B1F"/>
          </a:solidFill>
          <a:ln w="12700">
            <a:solidFill>
              <a:srgbClr val="333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73568" y="3127248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F2F0EA"/>
                </a:solidFill>
                <a:latin typeface="Bricolage Grotesque"/>
              </a:rPr>
              <a:t>Verdict + confidence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73568" y="3419856"/>
            <a:ext cx="3566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9A9AA3"/>
                </a:solidFill>
                <a:latin typeface="Geist"/>
              </a:rPr>
              <a:t>One of four outcomes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0" y="3950208"/>
            <a:ext cx="3840480" cy="822960"/>
          </a:xfrm>
          <a:prstGeom prst="roundRect">
            <a:avLst>
              <a:gd name="adj" fmla="val 6000"/>
            </a:avLst>
          </a:prstGeom>
          <a:solidFill>
            <a:srgbClr val="1B1B1F"/>
          </a:solidFill>
          <a:ln w="19050">
            <a:solidFill>
              <a:srgbClr val="FF6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73568" y="4059936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F2F0EA"/>
                </a:solidFill>
                <a:latin typeface="Bricolage Grotesque"/>
              </a:rPr>
              <a:t>Explanation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73568" y="4352544"/>
            <a:ext cx="3566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9A9AA3"/>
                </a:solidFill>
                <a:latin typeface="Geist"/>
              </a:rPr>
              <a:t>What the source says, why it does or does not match, what it does not establish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0" y="4882896"/>
            <a:ext cx="3840480" cy="822960"/>
          </a:xfrm>
          <a:prstGeom prst="roundRect">
            <a:avLst>
              <a:gd name="adj" fmla="val 6000"/>
            </a:avLst>
          </a:prstGeom>
          <a:solidFill>
            <a:srgbClr val="1B1B1F"/>
          </a:solidFill>
          <a:ln w="12700">
            <a:solidFill>
              <a:srgbClr val="333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73568" y="4992624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F2F0EA"/>
                </a:solidFill>
                <a:latin typeface="Bricolage Grotesque"/>
              </a:rPr>
              <a:t>Source evidence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73568" y="5285232"/>
            <a:ext cx="3566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9A9AA3"/>
                </a:solidFill>
                <a:latin typeface="Geist"/>
              </a:rPr>
              <a:t>The exact quote, document and page: “Show me why”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989320"/>
            <a:ext cx="20116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9A9AA3"/>
                </a:solidFill>
                <a:latin typeface="Geist Mono"/>
              </a:rPr>
              <a:t>THE FOUR VERDICTS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514600" y="5989320"/>
            <a:ext cx="1106424" cy="310896"/>
          </a:xfrm>
          <a:prstGeom prst="roundRect">
            <a:avLst>
              <a:gd name="adj" fmla="val 50000"/>
            </a:avLst>
          </a:prstGeom>
          <a:solidFill>
            <a:srgbClr val="242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514600" y="5989320"/>
            <a:ext cx="110642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1" i="0">
                <a:solidFill>
                  <a:srgbClr val="3DD68C"/>
                </a:solidFill>
                <a:latin typeface="Geist"/>
              </a:rPr>
              <a:t>Supported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785615" y="5989320"/>
            <a:ext cx="1929384" cy="310896"/>
          </a:xfrm>
          <a:prstGeom prst="roundRect">
            <a:avLst>
              <a:gd name="adj" fmla="val 50000"/>
            </a:avLst>
          </a:prstGeom>
          <a:solidFill>
            <a:srgbClr val="242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85615" y="5989320"/>
            <a:ext cx="192938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1" i="0">
                <a:solidFill>
                  <a:srgbClr val="F5B84A"/>
                </a:solidFill>
                <a:latin typeface="Geist"/>
              </a:rPr>
              <a:t>Partially supported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879592" y="5989320"/>
            <a:ext cx="1353312" cy="310896"/>
          </a:xfrm>
          <a:prstGeom prst="roundRect">
            <a:avLst>
              <a:gd name="adj" fmla="val 50000"/>
            </a:avLst>
          </a:prstGeom>
          <a:solidFill>
            <a:srgbClr val="242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79592" y="5989320"/>
            <a:ext cx="135331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1" i="0">
                <a:solidFill>
                  <a:srgbClr val="F05D5E"/>
                </a:solidFill>
                <a:latin typeface="Geist"/>
              </a:rPr>
              <a:t>Contradicted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97496" y="5989320"/>
            <a:ext cx="2093976" cy="310896"/>
          </a:xfrm>
          <a:prstGeom prst="roundRect">
            <a:avLst>
              <a:gd name="adj" fmla="val 50000"/>
            </a:avLst>
          </a:prstGeom>
          <a:solidFill>
            <a:srgbClr val="242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97496" y="5989320"/>
            <a:ext cx="209397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1" i="0">
                <a:solidFill>
                  <a:srgbClr val="9A9AA3"/>
                </a:solidFill>
                <a:latin typeface="Geist"/>
              </a:rPr>
              <a:t>Insufficient evidence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256032" cy="256032"/>
          </a:xfrm>
          <a:prstGeom prst="ellipse">
            <a:avLst/>
          </a:prstGeom>
          <a:noFill/>
          <a:ln w="32004">
            <a:solidFill>
              <a:srgbClr val="F2F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12647" y="521208"/>
            <a:ext cx="128016" cy="128016"/>
          </a:xfrm>
          <a:prstGeom prst="ellipse">
            <a:avLst/>
          </a:prstGeom>
          <a:solidFill>
            <a:srgbClr val="E55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572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F2F0EA"/>
                </a:solidFill>
                <a:latin typeface="Bricolage Grotesque"/>
              </a:rPr>
              <a:t>ProofLens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457200"/>
            <a:ext cx="12161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2000"/>
              </a:lnSpc>
            </a:pPr>
            <a:r>
              <a:rPr sz="1100" b="0" i="0">
                <a:solidFill>
                  <a:srgbClr val="9A9AA3"/>
                </a:solidFill>
                <a:latin typeface="Geist Mono"/>
              </a:rPr>
              <a:t>04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FF6A3D"/>
                </a:solidFill>
                <a:latin typeface="Geist Mono"/>
              </a:rPr>
              <a:t>HOW IT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F2F0EA"/>
                </a:solidFill>
                <a:latin typeface="Bricolage Grotesque"/>
              </a:rPr>
              <a:t>Deterministic checks and AI reasoning, with the backend owning the verdict.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788920"/>
            <a:ext cx="1764792" cy="3063240"/>
          </a:xfrm>
          <a:prstGeom prst="roundRect">
            <a:avLst>
              <a:gd name="adj" fmla="val 6000"/>
            </a:avLst>
          </a:prstGeom>
          <a:solidFill>
            <a:srgbClr val="1B1B1F"/>
          </a:solidFill>
          <a:ln w="12700">
            <a:solidFill>
              <a:srgbClr val="333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990088"/>
            <a:ext cx="13990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FF6A3D"/>
                </a:solidFill>
                <a:latin typeface="Geist Mono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337560"/>
            <a:ext cx="1399031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2F0EA"/>
                </a:solidFill>
                <a:latin typeface="Bricolage Grotesque"/>
              </a:rPr>
              <a:t>Claim analysed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114800"/>
            <a:ext cx="1399031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9A9AA3"/>
                </a:solidFill>
                <a:latin typeface="Geist"/>
              </a:rPr>
              <a:t>Strength of language, causal wording, numbers, dates, names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23160" y="2788920"/>
            <a:ext cx="1764792" cy="3063240"/>
          </a:xfrm>
          <a:prstGeom prst="roundRect">
            <a:avLst>
              <a:gd name="adj" fmla="val 6000"/>
            </a:avLst>
          </a:prstGeom>
          <a:solidFill>
            <a:srgbClr val="1B1B1F"/>
          </a:solidFill>
          <a:ln w="12700">
            <a:solidFill>
              <a:srgbClr val="333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06040" y="2990088"/>
            <a:ext cx="13990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FF6A3D"/>
                </a:solidFill>
                <a:latin typeface="Geist Mono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0" y="3337560"/>
            <a:ext cx="1399031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2F0EA"/>
                </a:solidFill>
                <a:latin typeface="Bricolage Grotesque"/>
              </a:rPr>
              <a:t>Evidence extracted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6040" y="4114800"/>
            <a:ext cx="1399031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9A9AA3"/>
                </a:solidFill>
                <a:latin typeface="Geist"/>
              </a:rPr>
              <a:t>PDF text pulled per page in an isolated subprocess; you pick the passage and page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79" y="2788920"/>
            <a:ext cx="1764792" cy="3063240"/>
          </a:xfrm>
          <a:prstGeom prst="roundRect">
            <a:avLst>
              <a:gd name="adj" fmla="val 6000"/>
            </a:avLst>
          </a:prstGeom>
          <a:solidFill>
            <a:srgbClr val="1B1B1F"/>
          </a:solidFill>
          <a:ln w="19050">
            <a:solidFill>
              <a:srgbClr val="FF6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59" y="2990088"/>
            <a:ext cx="13990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FF6A3D"/>
                </a:solidFill>
                <a:latin typeface="Geist Mono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59" y="3337560"/>
            <a:ext cx="1399031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2F0EA"/>
                </a:solidFill>
                <a:latin typeface="Bricolage Grotesque"/>
              </a:rPr>
              <a:t>Rule-based checks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59" y="4114800"/>
            <a:ext cx="1399031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9A9AA3"/>
                </a:solidFill>
                <a:latin typeface="Geist"/>
              </a:rPr>
              <a:t>Number, date, entity, negation and causation-vs-association comparisons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199" y="2788920"/>
            <a:ext cx="1764792" cy="3063240"/>
          </a:xfrm>
          <a:prstGeom prst="roundRect">
            <a:avLst>
              <a:gd name="adj" fmla="val 6000"/>
            </a:avLst>
          </a:prstGeom>
          <a:solidFill>
            <a:srgbClr val="1B1B1F"/>
          </a:solidFill>
          <a:ln w="19050">
            <a:solidFill>
              <a:srgbClr val="FF6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79" y="2990088"/>
            <a:ext cx="13990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FF6A3D"/>
                </a:solidFill>
                <a:latin typeface="Geist Mono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79" y="3337560"/>
            <a:ext cx="1399031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2F0EA"/>
                </a:solidFill>
                <a:latin typeface="Bricolage Grotesque"/>
              </a:rPr>
              <a:t>AI reasoning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79" y="4114800"/>
            <a:ext cx="1399031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9A9AA3"/>
                </a:solidFill>
                <a:latin typeface="Geist"/>
              </a:rPr>
              <a:t>Model sees only the supplied passages and must answer in a strict JSON schema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19" y="2788920"/>
            <a:ext cx="1764792" cy="3063240"/>
          </a:xfrm>
          <a:prstGeom prst="roundRect">
            <a:avLst>
              <a:gd name="adj" fmla="val 6000"/>
            </a:avLst>
          </a:prstGeom>
          <a:solidFill>
            <a:srgbClr val="1B1B1F"/>
          </a:solidFill>
          <a:ln w="19050">
            <a:solidFill>
              <a:srgbClr val="FF6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599" y="2990088"/>
            <a:ext cx="13990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FF6A3D"/>
                </a:solidFill>
                <a:latin typeface="Geist Mono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599" y="3337560"/>
            <a:ext cx="1399031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2F0EA"/>
                </a:solidFill>
                <a:latin typeface="Bricolage Grotesque"/>
              </a:rPr>
              <a:t>Backend validation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599" y="4114800"/>
            <a:ext cx="1399031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9A9AA3"/>
                </a:solidFill>
                <a:latin typeface="Geist"/>
              </a:rPr>
              <a:t>Output parsed with Pydantic; references must match a supplied passage; hard conflicts override the model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921240" y="2788920"/>
            <a:ext cx="1764792" cy="3063240"/>
          </a:xfrm>
          <a:prstGeom prst="roundRect">
            <a:avLst>
              <a:gd name="adj" fmla="val 6000"/>
            </a:avLst>
          </a:prstGeom>
          <a:solidFill>
            <a:srgbClr val="1B1B1F"/>
          </a:solidFill>
          <a:ln w="12700">
            <a:solidFill>
              <a:srgbClr val="333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04119" y="2990088"/>
            <a:ext cx="13990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FF6A3D"/>
                </a:solidFill>
                <a:latin typeface="Geist Mono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04119" y="3337560"/>
            <a:ext cx="1399031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2F0EA"/>
                </a:solidFill>
                <a:latin typeface="Bricolage Grotesque"/>
              </a:rPr>
              <a:t>Show me why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04119" y="4114800"/>
            <a:ext cx="1399031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9A9AA3"/>
                </a:solidFill>
                <a:latin typeface="Geist"/>
              </a:rPr>
              <a:t>Verdict with quotes, document and page, linked to the highlighted passage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12648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9A9AA3"/>
                </a:solidFill>
                <a:latin typeface="Geist"/>
              </a:rPr>
              <a:t>If every AI model fails, ProofLens returns the deterministic result only when the checks are decisive; otherwise it says reasoning is unavailable and stores nothing.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256032" cy="256032"/>
          </a:xfrm>
          <a:prstGeom prst="ellipse">
            <a:avLst/>
          </a:prstGeom>
          <a:noFill/>
          <a:ln w="32004">
            <a:solidFill>
              <a:srgbClr val="F2F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12647" y="521208"/>
            <a:ext cx="128016" cy="128016"/>
          </a:xfrm>
          <a:prstGeom prst="ellipse">
            <a:avLst/>
          </a:prstGeom>
          <a:solidFill>
            <a:srgbClr val="E55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572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F2F0EA"/>
                </a:solidFill>
                <a:latin typeface="Bricolage Grotesque"/>
              </a:rPr>
              <a:t>ProofLens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457200"/>
            <a:ext cx="12161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2000"/>
              </a:lnSpc>
            </a:pPr>
            <a:r>
              <a:rPr sz="1100" b="0" i="0">
                <a:solidFill>
                  <a:srgbClr val="9A9AA3"/>
                </a:solidFill>
                <a:latin typeface="Geist Mono"/>
              </a:rPr>
              <a:t>05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FF6A3D"/>
                </a:solidFill>
                <a:latin typeface="Geist Mono"/>
              </a:rPr>
              <a:t>THE IMPORTANT DIFFERENCE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F2F0EA"/>
                </a:solidFill>
                <a:latin typeface="Bricolage Grotesque"/>
              </a:rPr>
              <a:t>Not just a label. What the source establishes, and why.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51760"/>
            <a:ext cx="2697480" cy="2514600"/>
          </a:xfrm>
          <a:prstGeom prst="roundRect">
            <a:avLst>
              <a:gd name="adj" fmla="val 6000"/>
            </a:avLst>
          </a:prstGeom>
          <a:solidFill>
            <a:srgbClr val="1B1B1F"/>
          </a:solidFill>
          <a:ln w="12700">
            <a:solidFill>
              <a:srgbClr val="333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651760"/>
            <a:ext cx="2697480" cy="64008"/>
          </a:xfrm>
          <a:prstGeom prst="rect">
            <a:avLst/>
          </a:prstGeom>
          <a:solidFill>
            <a:srgbClr val="FF6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880360"/>
            <a:ext cx="22951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FF6A3D"/>
                </a:solidFill>
                <a:latin typeface="Geist Mono"/>
              </a:rPr>
              <a:t>YOUR CLAIM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246120"/>
            <a:ext cx="2295144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F2F0EA"/>
                </a:solidFill>
                <a:latin typeface="Geist"/>
              </a:rPr>
              <a:t>“The study proves that drinking coffee every day causes a lower risk of heart disease.”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64992" y="2651760"/>
            <a:ext cx="2697480" cy="2514600"/>
          </a:xfrm>
          <a:prstGeom prst="roundRect">
            <a:avLst>
              <a:gd name="adj" fmla="val 6000"/>
            </a:avLst>
          </a:prstGeom>
          <a:solidFill>
            <a:srgbClr val="1B1B1F"/>
          </a:solidFill>
          <a:ln w="12700">
            <a:solidFill>
              <a:srgbClr val="333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64992" y="2651760"/>
            <a:ext cx="2697480" cy="64008"/>
          </a:xfrm>
          <a:prstGeom prst="rect">
            <a:avLst/>
          </a:prstGeom>
          <a:solidFill>
            <a:srgbClr val="7AA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2880360"/>
            <a:ext cx="22951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7AA2FF"/>
                </a:solidFill>
                <a:latin typeface="Geist Mono"/>
              </a:rPr>
              <a:t>WHAT THE EVIDENCE SAYS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3246120"/>
            <a:ext cx="2295144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F2F0EA"/>
                </a:solidFill>
                <a:latin typeface="Geist"/>
              </a:rPr>
              <a:t>Daily coffee consumption is associated with an 18% lower incidence of heart disease, but because the study is observational, it does not establish that coffee causes a lower risk.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1344" y="2651760"/>
            <a:ext cx="2697480" cy="2514600"/>
          </a:xfrm>
          <a:prstGeom prst="roundRect">
            <a:avLst>
              <a:gd name="adj" fmla="val 6000"/>
            </a:avLst>
          </a:prstGeom>
          <a:solidFill>
            <a:srgbClr val="1B1B1F"/>
          </a:solidFill>
          <a:ln w="12700">
            <a:solidFill>
              <a:srgbClr val="333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81344" y="2651760"/>
            <a:ext cx="2697480" cy="64008"/>
          </a:xfrm>
          <a:prstGeom prst="rect">
            <a:avLst/>
          </a:prstGeom>
          <a:solidFill>
            <a:srgbClr val="F5B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82512" y="2880360"/>
            <a:ext cx="22951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F5B84A"/>
                </a:solidFill>
                <a:latin typeface="Geist Mono"/>
              </a:rPr>
              <a:t>WHY IT DOES NOT FULLY MATCH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3246120"/>
            <a:ext cx="2295144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F2F0EA"/>
                </a:solidFill>
                <a:latin typeface="Geist"/>
              </a:rPr>
              <a:t>The source describes an association and notes the observational design prevents establishing causation, whereas the claim asserts proven causal effect.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97696" y="2651760"/>
            <a:ext cx="2697480" cy="2514600"/>
          </a:xfrm>
          <a:prstGeom prst="roundRect">
            <a:avLst>
              <a:gd name="adj" fmla="val 6000"/>
            </a:avLst>
          </a:prstGeom>
          <a:solidFill>
            <a:srgbClr val="1B1B1F"/>
          </a:solidFill>
          <a:ln w="12700">
            <a:solidFill>
              <a:srgbClr val="333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97696" y="2651760"/>
            <a:ext cx="2697480" cy="64008"/>
          </a:xfrm>
          <a:prstGeom prst="rect">
            <a:avLst/>
          </a:prstGeom>
          <a:solidFill>
            <a:srgbClr val="3DD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98864" y="2880360"/>
            <a:ext cx="22951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3DD68C"/>
                </a:solidFill>
                <a:latin typeface="Geist Mono"/>
              </a:rPr>
              <a:t>WHAT YOU CAN CONCLUDE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98864" y="3246120"/>
            <a:ext cx="2295144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F2F0EA"/>
                </a:solidFill>
                <a:latin typeface="Geist"/>
              </a:rPr>
              <a:t>Coffee consumption is linked to a lower risk of heart disease, but the study does not prove that coffee causes this reduction.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349240"/>
            <a:ext cx="11064240" cy="960120"/>
          </a:xfrm>
          <a:prstGeom prst="roundRect">
            <a:avLst>
              <a:gd name="adj" fmla="val 6000"/>
            </a:avLst>
          </a:prstGeom>
          <a:solidFill>
            <a:srgbClr val="242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77240" y="5669280"/>
            <a:ext cx="2011680" cy="310896"/>
          </a:xfrm>
          <a:prstGeom prst="roundRect">
            <a:avLst>
              <a:gd name="adj" fmla="val 50000"/>
            </a:avLst>
          </a:prstGeom>
          <a:solidFill>
            <a:srgbClr val="3A1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669280"/>
            <a:ext cx="20116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1" i="0">
                <a:solidFill>
                  <a:srgbClr val="F05D5E"/>
                </a:solidFill>
                <a:latin typeface="Geist"/>
              </a:rPr>
              <a:t>Contradicted · 97%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17520" y="5468112"/>
            <a:ext cx="8412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9A9AA3"/>
                </a:solidFill>
                <a:latin typeface="Geist Mono"/>
              </a:rPr>
              <a:t>SHOW ME WHY  ·  coffee-heart-study-sample.pdf  ·  page 3  ·  Limitations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F2F0EA"/>
                </a:solidFill>
                <a:latin typeface="Geist"/>
              </a:rPr>
              <a:t>“Because this was an observational study, the findings do not establish that coffee causes a lower risk of heart disease.”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256032" cy="256032"/>
          </a:xfrm>
          <a:prstGeom prst="ellipse">
            <a:avLst/>
          </a:prstGeom>
          <a:noFill/>
          <a:ln w="32004">
            <a:solidFill>
              <a:srgbClr val="F2F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12647" y="521208"/>
            <a:ext cx="128016" cy="128016"/>
          </a:xfrm>
          <a:prstGeom prst="ellipse">
            <a:avLst/>
          </a:prstGeom>
          <a:solidFill>
            <a:srgbClr val="E55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572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F2F0EA"/>
                </a:solidFill>
                <a:latin typeface="Bricolage Grotesque"/>
              </a:rPr>
              <a:t>ProofLens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457200"/>
            <a:ext cx="12161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2000"/>
              </a:lnSpc>
            </a:pPr>
            <a:r>
              <a:rPr sz="1100" b="0" i="0">
                <a:solidFill>
                  <a:srgbClr val="9A9AA3"/>
                </a:solidFill>
                <a:latin typeface="Geist Mono"/>
              </a:rPr>
              <a:t>06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FF6A3D"/>
                </a:solidFill>
                <a:latin typeface="Geist Mono"/>
              </a:rPr>
              <a:t>THE REAL PRODUCT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F2F0EA"/>
                </a:solidFill>
                <a:latin typeface="Bricolage Grotesque"/>
              </a:rPr>
              <a:t>The running web app, captured today.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3776" y="2276856"/>
            <a:ext cx="6419088" cy="3986289"/>
          </a:xfrm>
          <a:prstGeom prst="roundRect">
            <a:avLst>
              <a:gd name="adj" fmla="val 6000"/>
            </a:avLst>
          </a:prstGeom>
          <a:solidFill>
            <a:srgbClr val="242429"/>
          </a:solidFill>
          <a:ln w="12700">
            <a:solidFill>
              <a:srgbClr val="333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wh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331720"/>
            <a:ext cx="6309360" cy="387656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309360"/>
            <a:ext cx="6675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9A9AA3"/>
                </a:solidFill>
                <a:latin typeface="Geist Mono"/>
              </a:rPr>
              <a:t>Result: why it does not match  ·  Show me why, with roles and page numbers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0336" y="2276856"/>
            <a:ext cx="4407408" cy="1633450"/>
          </a:xfrm>
          <a:prstGeom prst="roundRect">
            <a:avLst>
              <a:gd name="adj" fmla="val 6000"/>
            </a:avLst>
          </a:prstGeom>
          <a:solidFill>
            <a:srgbClr val="242429"/>
          </a:solidFill>
          <a:ln w="12700">
            <a:solidFill>
              <a:srgbClr val="333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view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2331720"/>
            <a:ext cx="4297680" cy="152372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315200" y="3931920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9A9AA3"/>
                </a:solidFill>
                <a:latin typeface="Geist Mono"/>
              </a:rPr>
              <a:t>Open the source: the cited sentence highlighted on page 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0336" y="4425696"/>
            <a:ext cx="2487168" cy="1309157"/>
          </a:xfrm>
          <a:prstGeom prst="roundRect">
            <a:avLst>
              <a:gd name="adj" fmla="val 6000"/>
            </a:avLst>
          </a:prstGeom>
          <a:solidFill>
            <a:srgbClr val="242429"/>
          </a:solidFill>
          <a:ln w="12700">
            <a:solidFill>
              <a:srgbClr val="333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evidenc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4480560"/>
            <a:ext cx="2377440" cy="1199429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9866376" y="4425696"/>
            <a:ext cx="1800352" cy="1572768"/>
          </a:xfrm>
          <a:prstGeom prst="roundRect">
            <a:avLst>
              <a:gd name="adj" fmla="val 6000"/>
            </a:avLst>
          </a:prstGeom>
          <a:solidFill>
            <a:srgbClr val="242429"/>
          </a:solidFill>
          <a:ln w="12700">
            <a:solidFill>
              <a:srgbClr val="333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otp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21240" y="4480560"/>
            <a:ext cx="1690624" cy="146304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315200" y="6126480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9A9AA3"/>
                </a:solidFill>
                <a:latin typeface="Geist Mono"/>
              </a:rPr>
              <a:t>Evidence by page  ·  6-digit email code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256032" cy="256032"/>
          </a:xfrm>
          <a:prstGeom prst="ellipse">
            <a:avLst/>
          </a:prstGeom>
          <a:noFill/>
          <a:ln w="32004">
            <a:solidFill>
              <a:srgbClr val="F2F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12647" y="521208"/>
            <a:ext cx="128016" cy="128016"/>
          </a:xfrm>
          <a:prstGeom prst="ellipse">
            <a:avLst/>
          </a:prstGeom>
          <a:solidFill>
            <a:srgbClr val="E55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572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F2F0EA"/>
                </a:solidFill>
                <a:latin typeface="Bricolage Grotesque"/>
              </a:rPr>
              <a:t>ProofLens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457200"/>
            <a:ext cx="12161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2000"/>
              </a:lnSpc>
            </a:pPr>
            <a:r>
              <a:rPr sz="1100" b="0" i="0">
                <a:solidFill>
                  <a:srgbClr val="9A9AA3"/>
                </a:solidFill>
                <a:latin typeface="Geist Mono"/>
              </a:rPr>
              <a:t>07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FF6A3D"/>
                </a:solidFill>
                <a:latin typeface="Geist Mono"/>
              </a:rPr>
              <a:t>TECHNICAL FOUNDATION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F2F0EA"/>
                </a:solidFill>
                <a:latin typeface="Bricolage Grotesque"/>
              </a:rPr>
              <a:t>A full-stack product, not a prompt wrapper.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51760"/>
            <a:ext cx="2697480" cy="3566160"/>
          </a:xfrm>
          <a:prstGeom prst="roundRect">
            <a:avLst>
              <a:gd name="adj" fmla="val 6000"/>
            </a:avLst>
          </a:prstGeom>
          <a:solidFill>
            <a:srgbClr val="1B1B1F"/>
          </a:solidFill>
          <a:ln w="12700">
            <a:solidFill>
              <a:srgbClr val="333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852928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FF6A3D"/>
                </a:solidFill>
                <a:latin typeface="Geist Mono"/>
              </a:rPr>
              <a:t>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246120"/>
            <a:ext cx="233172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300" b="0" i="0">
                <a:solidFill>
                  <a:srgbClr val="F2F0EA"/>
                </a:solidFill>
                <a:latin typeface="Geist"/>
              </a:rPr>
              <a:t>•  FastAPI · Python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300" b="0" i="0">
                <a:solidFill>
                  <a:srgbClr val="F2F0EA"/>
                </a:solidFill>
                <a:latin typeface="Geist"/>
              </a:rPr>
              <a:t>•  PostgreSQL · async SQLAlchemy 2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300" b="0" i="0">
                <a:solidFill>
                  <a:srgbClr val="F2F0EA"/>
                </a:solidFill>
                <a:latin typeface="Geist"/>
              </a:rPr>
              <a:t>•  Alembic migrations (10 revisions)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300" b="0" i="0">
                <a:solidFill>
                  <a:srgbClr val="F2F0EA"/>
                </a:solidFill>
                <a:latin typeface="Geist"/>
              </a:rPr>
              <a:t>•  PyMuPDF text extraction in a sandboxed subprocess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64992" y="2651760"/>
            <a:ext cx="2697480" cy="3566160"/>
          </a:xfrm>
          <a:prstGeom prst="roundRect">
            <a:avLst>
              <a:gd name="adj" fmla="val 6000"/>
            </a:avLst>
          </a:prstGeom>
          <a:solidFill>
            <a:srgbClr val="1B1B1F"/>
          </a:solidFill>
          <a:ln w="12700">
            <a:solidFill>
              <a:srgbClr val="333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2852928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FF6A3D"/>
                </a:solidFill>
                <a:latin typeface="Geist Mono"/>
              </a:rPr>
              <a:t>CLIENTS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3246120"/>
            <a:ext cx="233172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300" b="0" i="0">
                <a:solidFill>
                  <a:srgbClr val="F2F0EA"/>
                </a:solidFill>
                <a:latin typeface="Geist"/>
              </a:rPr>
              <a:t>•  Next.js 16 · React 19 web app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300" b="0" i="0">
                <a:solidFill>
                  <a:srgbClr val="F2F0EA"/>
                </a:solidFill>
                <a:latin typeface="Geist"/>
              </a:rPr>
              <a:t>•  Expo SDK 57 mobile app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300" b="0" i="0">
                <a:solidFill>
                  <a:srgbClr val="F2F0EA"/>
                </a:solidFill>
                <a:latin typeface="Geist"/>
              </a:rPr>
              <a:t>•  Neither client calls an AI provider or holds verification logic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2651760"/>
            <a:ext cx="2697480" cy="3566160"/>
          </a:xfrm>
          <a:prstGeom prst="roundRect">
            <a:avLst>
              <a:gd name="adj" fmla="val 6000"/>
            </a:avLst>
          </a:prstGeom>
          <a:solidFill>
            <a:srgbClr val="1B1B1F"/>
          </a:solidFill>
          <a:ln w="12700">
            <a:solidFill>
              <a:srgbClr val="333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2852928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FF6A3D"/>
                </a:solidFill>
                <a:latin typeface="Geist Mono"/>
              </a:rPr>
              <a:t>AI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3246120"/>
            <a:ext cx="233172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300" b="0" i="0">
                <a:solidFill>
                  <a:srgbClr val="F2F0EA"/>
                </a:solidFill>
                <a:latin typeface="Geist"/>
              </a:rPr>
              <a:t>•  One provider interface: Gemini, NVIDIA NIM, Groq, Ollama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300" b="0" i="0">
                <a:solidFill>
                  <a:srgbClr val="F2F0EA"/>
                </a:solidFill>
                <a:latin typeface="Geist"/>
              </a:rPr>
              <a:t>•  Chosen by configuration, with ordered fallback models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300" b="0" i="0">
                <a:solidFill>
                  <a:srgbClr val="F2F0EA"/>
                </a:solidFill>
                <a:latin typeface="Geist"/>
              </a:rPr>
              <a:t>•  Strict JSON-schema output, validated with Pydantic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97696" y="2651760"/>
            <a:ext cx="2697480" cy="3566160"/>
          </a:xfrm>
          <a:prstGeom prst="roundRect">
            <a:avLst>
              <a:gd name="adj" fmla="val 6000"/>
            </a:avLst>
          </a:prstGeom>
          <a:solidFill>
            <a:srgbClr val="1B1B1F"/>
          </a:solidFill>
          <a:ln w="12700">
            <a:solidFill>
              <a:srgbClr val="333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98864" y="2852928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FF6A3D"/>
                </a:solidFill>
                <a:latin typeface="Geist Mono"/>
              </a:rPr>
              <a:t>SECURITY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98864" y="3246120"/>
            <a:ext cx="233172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300" b="0" i="0">
                <a:solidFill>
                  <a:srgbClr val="F2F0EA"/>
                </a:solidFill>
                <a:latin typeface="Geist"/>
              </a:rPr>
              <a:t>•  Argon2id passwords · SHA-256 hashed session tokens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300" b="0" i="0">
                <a:solidFill>
                  <a:srgbClr val="F2F0EA"/>
                </a:solidFill>
                <a:latin typeface="Geist"/>
              </a:rPr>
              <a:t>•  Revocation, 5-session cap, 24h expiry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300" b="0" i="0">
                <a:solidFill>
                  <a:srgbClr val="F2F0EA"/>
                </a:solidFill>
                <a:latin typeface="Geist"/>
              </a:rPr>
              <a:t>•  Rate limits on login, signup, OTP · owner checks on every resource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300" b="0" i="0">
                <a:solidFill>
                  <a:srgbClr val="F2F0EA"/>
                </a:solidFill>
                <a:latin typeface="Geist"/>
              </a:rPr>
              <a:t>•  Request body caps · security headers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256032" cy="256032"/>
          </a:xfrm>
          <a:prstGeom prst="ellipse">
            <a:avLst/>
          </a:prstGeom>
          <a:noFill/>
          <a:ln w="32004">
            <a:solidFill>
              <a:srgbClr val="F2F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12647" y="521208"/>
            <a:ext cx="128016" cy="128016"/>
          </a:xfrm>
          <a:prstGeom prst="ellipse">
            <a:avLst/>
          </a:prstGeom>
          <a:solidFill>
            <a:srgbClr val="E55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572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F2F0EA"/>
                </a:solidFill>
                <a:latin typeface="Bricolage Grotesque"/>
              </a:rPr>
              <a:t>ProofLens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457200"/>
            <a:ext cx="12161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2000"/>
              </a:lnSpc>
            </a:pPr>
            <a:r>
              <a:rPr sz="1100" b="0" i="0">
                <a:solidFill>
                  <a:srgbClr val="9A9AA3"/>
                </a:solidFill>
                <a:latin typeface="Geist Mono"/>
              </a:rPr>
              <a:t>08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FF6A3D"/>
                </a:solidFill>
                <a:latin typeface="Geist Mono"/>
              </a:rPr>
              <a:t>PROOF IT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F2F0EA"/>
                </a:solidFill>
                <a:latin typeface="Bricolage Grotesque"/>
              </a:rPr>
              <a:t>Measured today, not estimated.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06040"/>
            <a:ext cx="3566160" cy="2057400"/>
          </a:xfrm>
          <a:prstGeom prst="roundRect">
            <a:avLst>
              <a:gd name="adj" fmla="val 6000"/>
            </a:avLst>
          </a:prstGeom>
          <a:solidFill>
            <a:srgbClr val="1B1B1F"/>
          </a:solidFill>
          <a:ln w="12700">
            <a:solidFill>
              <a:srgbClr val="333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274320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600" b="1" i="0">
                <a:solidFill>
                  <a:srgbClr val="FF6A3D"/>
                </a:solidFill>
                <a:latin typeface="Bricolage Grotesque"/>
              </a:rPr>
              <a:t>297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584448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F2F0EA"/>
                </a:solidFill>
                <a:latin typeface="Bricolage Grotesque"/>
              </a:rPr>
              <a:t>backend tests passing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3931920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9A9AA3"/>
                </a:solidFill>
                <a:latin typeface="Geist"/>
              </a:rPr>
              <a:t>186 unit · 111 integration against real PostgreSQL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79392" y="2606040"/>
            <a:ext cx="3566160" cy="2057400"/>
          </a:xfrm>
          <a:prstGeom prst="roundRect">
            <a:avLst>
              <a:gd name="adj" fmla="val 6000"/>
            </a:avLst>
          </a:prstGeom>
          <a:solidFill>
            <a:srgbClr val="1B1B1F"/>
          </a:solidFill>
          <a:ln w="12700">
            <a:solidFill>
              <a:srgbClr val="333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274320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600" b="1" i="0">
                <a:solidFill>
                  <a:srgbClr val="FF6A3D"/>
                </a:solidFill>
                <a:latin typeface="Bricolage Grotesque"/>
              </a:rPr>
              <a:t>47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3584448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F2F0EA"/>
                </a:solidFill>
                <a:latin typeface="Bricolage Grotesque"/>
              </a:rPr>
              <a:t>security tests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3931920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9A9AA3"/>
                </a:solidFill>
                <a:latin typeface="Geist"/>
              </a:rPr>
              <a:t>cross-user access, token revocation, rate limits, body limits, lock and delete protection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10144" y="2606040"/>
            <a:ext cx="3566160" cy="2057400"/>
          </a:xfrm>
          <a:prstGeom prst="roundRect">
            <a:avLst>
              <a:gd name="adj" fmla="val 6000"/>
            </a:avLst>
          </a:prstGeom>
          <a:solidFill>
            <a:srgbClr val="1B1B1F"/>
          </a:solidFill>
          <a:ln w="12700">
            <a:solidFill>
              <a:srgbClr val="333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84464" y="274320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600" b="1" i="0">
                <a:solidFill>
                  <a:srgbClr val="FF6A3D"/>
                </a:solidFill>
                <a:latin typeface="Bricolage Grotesque"/>
              </a:rPr>
              <a:t>3 of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4464" y="3584448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F2F0EA"/>
                </a:solidFill>
                <a:latin typeface="Bricolage Grotesque"/>
              </a:rPr>
              <a:t>AI providers verified live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4464" y="3931920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9A9AA3"/>
                </a:solidFill>
                <a:latin typeface="Geist"/>
              </a:rPr>
              <a:t>Gemini, NVIDIA NIM and Groq returned validated verdicts; Ollama not run here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846320"/>
            <a:ext cx="11064240" cy="1417320"/>
          </a:xfrm>
          <a:prstGeom prst="roundRect">
            <a:avLst>
              <a:gd name="adj" fmla="val 6000"/>
            </a:avLst>
          </a:prstGeom>
          <a:solidFill>
            <a:srgbClr val="242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98348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9A9AA3"/>
                </a:solidFill>
                <a:latin typeface="Geist Mono"/>
              </a:rPr>
              <a:t>END-TO-END RUN IN THE WEB APP  ·  27 SEP 2026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5440680"/>
            <a:ext cx="969264" cy="310896"/>
          </a:xfrm>
          <a:prstGeom prst="roundRect">
            <a:avLst>
              <a:gd name="adj" fmla="val 50000"/>
            </a:avLst>
          </a:prstGeom>
          <a:solidFill>
            <a:srgbClr val="1B1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440680"/>
            <a:ext cx="96926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1" i="0">
                <a:solidFill>
                  <a:srgbClr val="F2F0EA"/>
                </a:solidFill>
                <a:latin typeface="Geist"/>
              </a:rPr>
              <a:t>Register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65376" y="5440680"/>
            <a:ext cx="1828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 i="0">
                <a:solidFill>
                  <a:srgbClr val="FF6A3D"/>
                </a:solidFill>
                <a:latin typeface="Geist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066544" y="5440680"/>
            <a:ext cx="1120140" cy="310896"/>
          </a:xfrm>
          <a:prstGeom prst="roundRect">
            <a:avLst>
              <a:gd name="adj" fmla="val 50000"/>
            </a:avLst>
          </a:prstGeom>
          <a:solidFill>
            <a:srgbClr val="1B1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066544" y="5440680"/>
            <a:ext cx="11201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1" i="0">
                <a:solidFill>
                  <a:srgbClr val="F2F0EA"/>
                </a:solidFill>
                <a:latin typeface="Geist"/>
              </a:rPr>
              <a:t>Email code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59836" y="5440680"/>
            <a:ext cx="1828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 i="0">
                <a:solidFill>
                  <a:srgbClr val="FF6A3D"/>
                </a:solidFill>
                <a:latin typeface="Geist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461004" y="5440680"/>
            <a:ext cx="742950" cy="310896"/>
          </a:xfrm>
          <a:prstGeom prst="roundRect">
            <a:avLst>
              <a:gd name="adj" fmla="val 50000"/>
            </a:avLst>
          </a:prstGeom>
          <a:solidFill>
            <a:srgbClr val="1B1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61004" y="5440680"/>
            <a:ext cx="74295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1" i="0">
                <a:solidFill>
                  <a:srgbClr val="F2F0EA"/>
                </a:solidFill>
                <a:latin typeface="Geist"/>
              </a:rPr>
              <a:t>Claim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77106" y="5440680"/>
            <a:ext cx="1828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 i="0">
                <a:solidFill>
                  <a:srgbClr val="FF6A3D"/>
                </a:solidFill>
                <a:latin typeface="Geist"/>
              </a:rPr>
              <a:t>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78274" y="5440680"/>
            <a:ext cx="1120140" cy="310896"/>
          </a:xfrm>
          <a:prstGeom prst="roundRect">
            <a:avLst>
              <a:gd name="adj" fmla="val 50000"/>
            </a:avLst>
          </a:prstGeom>
          <a:solidFill>
            <a:srgbClr val="1B1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78274" y="5440680"/>
            <a:ext cx="11201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1" i="0">
                <a:solidFill>
                  <a:srgbClr val="F2F0EA"/>
                </a:solidFill>
                <a:latin typeface="Geist"/>
              </a:rPr>
              <a:t>Upload PDF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71566" y="5440680"/>
            <a:ext cx="1828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 i="0">
                <a:solidFill>
                  <a:srgbClr val="FF6A3D"/>
                </a:solidFill>
                <a:latin typeface="Geist"/>
              </a:rPr>
              <a:t>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872734" y="5440680"/>
            <a:ext cx="1346453" cy="310896"/>
          </a:xfrm>
          <a:prstGeom prst="roundRect">
            <a:avLst>
              <a:gd name="adj" fmla="val 50000"/>
            </a:avLst>
          </a:prstGeom>
          <a:solidFill>
            <a:srgbClr val="1B1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72734" y="5440680"/>
            <a:ext cx="1346453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1" i="0">
                <a:solidFill>
                  <a:srgbClr val="F2F0EA"/>
                </a:solidFill>
                <a:latin typeface="Geist"/>
              </a:rPr>
              <a:t>Pick passages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92340" y="5440680"/>
            <a:ext cx="1828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 i="0">
                <a:solidFill>
                  <a:srgbClr val="FF6A3D"/>
                </a:solidFill>
                <a:latin typeface="Geist"/>
              </a:rPr>
              <a:t>›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493508" y="5440680"/>
            <a:ext cx="818388" cy="310896"/>
          </a:xfrm>
          <a:prstGeom prst="roundRect">
            <a:avLst>
              <a:gd name="adj" fmla="val 50000"/>
            </a:avLst>
          </a:prstGeom>
          <a:solidFill>
            <a:srgbClr val="1B1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93508" y="5440680"/>
            <a:ext cx="81838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1" i="0">
                <a:solidFill>
                  <a:srgbClr val="F2F0EA"/>
                </a:solidFill>
                <a:latin typeface="Geist"/>
              </a:rPr>
              <a:t>Verify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85048" y="5440680"/>
            <a:ext cx="1828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 i="0">
                <a:solidFill>
                  <a:srgbClr val="FF6A3D"/>
                </a:solidFill>
                <a:latin typeface="Geist"/>
              </a:rPr>
              <a:t>›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586216" y="5440680"/>
            <a:ext cx="893825" cy="310896"/>
          </a:xfrm>
          <a:prstGeom prst="roundRect">
            <a:avLst>
              <a:gd name="adj" fmla="val 50000"/>
            </a:avLst>
          </a:prstGeom>
          <a:solidFill>
            <a:srgbClr val="1B1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86216" y="5440680"/>
            <a:ext cx="89382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1" i="0">
                <a:solidFill>
                  <a:srgbClr val="F2F0EA"/>
                </a:solidFill>
                <a:latin typeface="Geist"/>
              </a:rPr>
              <a:t>Verdict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53194" y="5440680"/>
            <a:ext cx="1828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 i="0">
                <a:solidFill>
                  <a:srgbClr val="FF6A3D"/>
                </a:solidFill>
                <a:latin typeface="Geist"/>
              </a:rPr>
              <a:t>›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754362" y="5440680"/>
            <a:ext cx="1195578" cy="310896"/>
          </a:xfrm>
          <a:prstGeom prst="roundRect">
            <a:avLst>
              <a:gd name="adj" fmla="val 50000"/>
            </a:avLst>
          </a:prstGeom>
          <a:solidFill>
            <a:srgbClr val="1B1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754362" y="5440680"/>
            <a:ext cx="119557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1" i="0">
                <a:solidFill>
                  <a:srgbClr val="F2F0EA"/>
                </a:solidFill>
                <a:latin typeface="Geist"/>
              </a:rPr>
              <a:t>Show me why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" y="589788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9A9AA3"/>
                </a:solidFill>
                <a:latin typeface="Geist"/>
              </a:rPr>
              <a:t>Every step completed against the real backend. Result: Contradicted, 97%, 3 passages cited by page.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256032" cy="256032"/>
          </a:xfrm>
          <a:prstGeom prst="ellipse">
            <a:avLst/>
          </a:prstGeom>
          <a:noFill/>
          <a:ln w="32004">
            <a:solidFill>
              <a:srgbClr val="F2F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12647" y="521208"/>
            <a:ext cx="128016" cy="128016"/>
          </a:xfrm>
          <a:prstGeom prst="ellipse">
            <a:avLst/>
          </a:prstGeom>
          <a:solidFill>
            <a:srgbClr val="E55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572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F2F0EA"/>
                </a:solidFill>
                <a:latin typeface="Bricolage Grotesque"/>
              </a:rPr>
              <a:t>ProofLens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457200"/>
            <a:ext cx="12161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2000"/>
              </a:lnSpc>
            </a:pPr>
            <a:r>
              <a:rPr sz="1100" b="0" i="0">
                <a:solidFill>
                  <a:srgbClr val="9A9AA3"/>
                </a:solidFill>
                <a:latin typeface="Geist Mono"/>
              </a:rPr>
              <a:t>09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FF6A3D"/>
                </a:solidFill>
                <a:latin typeface="Geist Mono"/>
              </a:rPr>
              <a:t>RESPONSIBLE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F2F0EA"/>
                </a:solidFill>
                <a:latin typeface="Bricolage Grotesque"/>
              </a:rPr>
              <a:t>The model reasons. The backend decides.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06040"/>
            <a:ext cx="5440680" cy="1097280"/>
          </a:xfrm>
          <a:prstGeom prst="roundRect">
            <a:avLst>
              <a:gd name="adj" fmla="val 6000"/>
            </a:avLst>
          </a:prstGeom>
          <a:solidFill>
            <a:srgbClr val="1B1B1F"/>
          </a:solidFill>
          <a:ln w="12700">
            <a:solidFill>
              <a:srgbClr val="333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04672" y="2880360"/>
            <a:ext cx="128016" cy="128016"/>
          </a:xfrm>
          <a:prstGeom prst="ellipse">
            <a:avLst/>
          </a:prstGeom>
          <a:solidFill>
            <a:srgbClr val="FF6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788920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F2F0EA"/>
                </a:solidFill>
                <a:latin typeface="Bricolage Grotesque"/>
              </a:rPr>
              <a:t>Grounded in supplied evidence only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136392"/>
            <a:ext cx="4663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9A9AA3"/>
                </a:solidFill>
                <a:latin typeface="Geist"/>
              </a:rPr>
              <a:t>The prompt forbids outside knowledge; the model only sees the passages you attached.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79" y="2606040"/>
            <a:ext cx="5440680" cy="1097280"/>
          </a:xfrm>
          <a:prstGeom prst="roundRect">
            <a:avLst>
              <a:gd name="adj" fmla="val 6000"/>
            </a:avLst>
          </a:prstGeom>
          <a:solidFill>
            <a:srgbClr val="1B1B1F"/>
          </a:solidFill>
          <a:ln w="12700">
            <a:solidFill>
              <a:srgbClr val="333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82512" y="2880360"/>
            <a:ext cx="128016" cy="128016"/>
          </a:xfrm>
          <a:prstGeom prst="ellipse">
            <a:avLst/>
          </a:prstGeom>
          <a:solidFill>
            <a:srgbClr val="FF6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19" y="2788920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F2F0EA"/>
                </a:solidFill>
                <a:latin typeface="Bricolage Grotesque"/>
              </a:rPr>
              <a:t>Prompt-injection guard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19" y="3136392"/>
            <a:ext cx="4663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9A9AA3"/>
                </a:solidFill>
                <a:latin typeface="Geist"/>
              </a:rPr>
              <a:t>Claim and evidence are wrapped as untrusted data; injected delimiter tags are stripped.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840480"/>
            <a:ext cx="5440680" cy="1097280"/>
          </a:xfrm>
          <a:prstGeom prst="roundRect">
            <a:avLst>
              <a:gd name="adj" fmla="val 6000"/>
            </a:avLst>
          </a:prstGeom>
          <a:solidFill>
            <a:srgbClr val="1B1B1F"/>
          </a:solidFill>
          <a:ln w="12700">
            <a:solidFill>
              <a:srgbClr val="333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4672" y="4114800"/>
            <a:ext cx="128016" cy="128016"/>
          </a:xfrm>
          <a:prstGeom prst="ellipse">
            <a:avLst/>
          </a:prstGeom>
          <a:solidFill>
            <a:srgbClr val="FF6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023360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F2F0EA"/>
                </a:solidFill>
                <a:latin typeface="Bricolage Grotesque"/>
              </a:rPr>
              <a:t>Structured, validated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370832"/>
            <a:ext cx="4663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9A9AA3"/>
                </a:solidFill>
                <a:latin typeface="Geist"/>
              </a:rPr>
              <a:t>Strict JSON schema, parsed with Pydantic; malformed output is retried, then rejected.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79" y="3840480"/>
            <a:ext cx="5440680" cy="1097280"/>
          </a:xfrm>
          <a:prstGeom prst="roundRect">
            <a:avLst>
              <a:gd name="adj" fmla="val 6000"/>
            </a:avLst>
          </a:prstGeom>
          <a:solidFill>
            <a:srgbClr val="1B1B1F"/>
          </a:solidFill>
          <a:ln w="12700">
            <a:solidFill>
              <a:srgbClr val="333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82512" y="4114800"/>
            <a:ext cx="128016" cy="128016"/>
          </a:xfrm>
          <a:prstGeom prst="ellipse">
            <a:avLst/>
          </a:prstGeom>
          <a:solidFill>
            <a:srgbClr val="FF6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19" y="4023360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F2F0EA"/>
                </a:solidFill>
                <a:latin typeface="Bricolage Grotesque"/>
              </a:rPr>
              <a:t>No invented citations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19" y="4370832"/>
            <a:ext cx="4663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9A9AA3"/>
                </a:solidFill>
                <a:latin typeface="Geist"/>
              </a:rPr>
              <a:t>References to unknown passages are dropped; quotes must appear verbatim in the stored passage.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074920"/>
            <a:ext cx="5440680" cy="1097280"/>
          </a:xfrm>
          <a:prstGeom prst="roundRect">
            <a:avLst>
              <a:gd name="adj" fmla="val 6000"/>
            </a:avLst>
          </a:prstGeom>
          <a:solidFill>
            <a:srgbClr val="1B1B1F"/>
          </a:solidFill>
          <a:ln w="12700">
            <a:solidFill>
              <a:srgbClr val="333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04672" y="5349240"/>
            <a:ext cx="128016" cy="128016"/>
          </a:xfrm>
          <a:prstGeom prst="ellipse">
            <a:avLst/>
          </a:prstGeom>
          <a:solidFill>
            <a:srgbClr val="FF6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5257800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F2F0EA"/>
                </a:solidFill>
                <a:latin typeface="Bricolage Grotesque"/>
              </a:rPr>
              <a:t>Checks can overrule the model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5605272"/>
            <a:ext cx="4663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9A9AA3"/>
                </a:solidFill>
                <a:latin typeface="Geist"/>
              </a:rPr>
              <a:t>A number, date or name conflict turns an AI “supported” into contradicted or partial.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26479" y="5074920"/>
            <a:ext cx="5440680" cy="1097280"/>
          </a:xfrm>
          <a:prstGeom prst="roundRect">
            <a:avLst>
              <a:gd name="adj" fmla="val 6000"/>
            </a:avLst>
          </a:prstGeom>
          <a:solidFill>
            <a:srgbClr val="1B1B1F"/>
          </a:solidFill>
          <a:ln w="12700">
            <a:solidFill>
              <a:srgbClr val="333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82512" y="5349240"/>
            <a:ext cx="128016" cy="128016"/>
          </a:xfrm>
          <a:prstGeom prst="ellipse">
            <a:avLst/>
          </a:prstGeom>
          <a:solidFill>
            <a:srgbClr val="FF6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5119" y="5257800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F2F0EA"/>
                </a:solidFill>
                <a:latin typeface="Bricolage Grotesque"/>
              </a:rPr>
              <a:t>Honest failure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19" y="5605272"/>
            <a:ext cx="4663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9A9AA3"/>
                </a:solidFill>
                <a:latin typeface="Geist"/>
              </a:rPr>
              <a:t>Provider outage: deterministic result only if decisive, otherwise “unavailable”. No verdict is invented.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256032" cy="256032"/>
          </a:xfrm>
          <a:prstGeom prst="ellipse">
            <a:avLst/>
          </a:prstGeom>
          <a:noFill/>
          <a:ln w="32004">
            <a:solidFill>
              <a:srgbClr val="F2F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12647" y="521208"/>
            <a:ext cx="128016" cy="128016"/>
          </a:xfrm>
          <a:prstGeom prst="ellipse">
            <a:avLst/>
          </a:prstGeom>
          <a:solidFill>
            <a:srgbClr val="E55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572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F2F0EA"/>
                </a:solidFill>
                <a:latin typeface="Bricolage Grotesque"/>
              </a:rPr>
              <a:t>ProofLens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457200"/>
            <a:ext cx="12161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2000"/>
              </a:lnSpc>
            </a:pPr>
            <a:r>
              <a:rPr sz="1100" b="0" i="0">
                <a:solidFill>
                  <a:srgbClr val="9A9AA3"/>
                </a:solidFill>
                <a:latin typeface="Geist Mono"/>
              </a:rPr>
              <a:t>10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FF6A3D"/>
                </a:solidFill>
                <a:latin typeface="Geist Mono"/>
              </a:rPr>
              <a:t>NEXT STEP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F2F0EA"/>
                </a:solidFill>
                <a:latin typeface="Bricolage Grotesque"/>
              </a:rPr>
              <a:t>From a working product to one people rely 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06040"/>
            <a:ext cx="5394960" cy="3017520"/>
          </a:xfrm>
          <a:prstGeom prst="roundRect">
            <a:avLst>
              <a:gd name="adj" fmla="val 6000"/>
            </a:avLst>
          </a:prstGeom>
          <a:solidFill>
            <a:srgbClr val="1B1B1F"/>
          </a:solidFill>
          <a:ln w="12700">
            <a:solidFill>
              <a:srgbClr val="333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78892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3DD68C"/>
                </a:solidFill>
                <a:latin typeface="Geist Mono"/>
              </a:rPr>
              <a:t>WORKING TODAY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154680"/>
            <a:ext cx="493776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0" i="0">
                <a:solidFill>
                  <a:srgbClr val="F2F0EA"/>
                </a:solidFill>
                <a:latin typeface="Geist"/>
              </a:rPr>
              <a:t>•  Claim → evidence → verdict → explanation → source, on web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0" i="0">
                <a:solidFill>
                  <a:srgbClr val="F2F0EA"/>
                </a:solidFill>
                <a:latin typeface="Geist"/>
              </a:rPr>
              <a:t>•  Four verdicts with deterministic checks + AI reasoning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0" i="0">
                <a:solidFill>
                  <a:srgbClr val="F2F0EA"/>
                </a:solidFill>
                <a:latin typeface="Geist"/>
              </a:rPr>
              <a:t>•  Page-level Show me why with highlighted passages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0" i="0">
                <a:solidFill>
                  <a:srgbClr val="F2F0EA"/>
                </a:solidFill>
                <a:latin typeface="Geist"/>
              </a:rPr>
              <a:t>•  Email-code accounts and verification history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606040"/>
            <a:ext cx="5394960" cy="3017520"/>
          </a:xfrm>
          <a:prstGeom prst="roundRect">
            <a:avLst>
              <a:gd name="adj" fmla="val 6000"/>
            </a:avLst>
          </a:prstGeom>
          <a:solidFill>
            <a:srgbClr val="1B1B1F"/>
          </a:solidFill>
          <a:ln w="19050">
            <a:solidFill>
              <a:srgbClr val="FF6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78892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FF6A3D"/>
                </a:solidFill>
                <a:latin typeface="Geist Mono"/>
              </a:rPr>
              <a:t>NEXT  ·  NOT BUILT YET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154680"/>
            <a:ext cx="493776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0" i="0">
                <a:solidFill>
                  <a:srgbClr val="F2F0EA"/>
                </a:solidFill>
                <a:latin typeface="Geist"/>
              </a:rPr>
              <a:t>•  Suggest the relevant passages automatically (ranking code exists, not yet wired in)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0" i="0">
                <a:solidFill>
                  <a:srgbClr val="F2F0EA"/>
                </a:solidFill>
                <a:latin typeface="Geist"/>
              </a:rPr>
              <a:t>•  Check that a passage really appears on the page it cites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0" i="0">
                <a:solidFill>
                  <a:srgbClr val="F2F0EA"/>
                </a:solidFill>
                <a:latin typeface="Geist"/>
              </a:rPr>
              <a:t>•  Split multi-part claims and verify each part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0" i="0">
                <a:solidFill>
                  <a:srgbClr val="F2F0EA"/>
                </a:solidFill>
                <a:latin typeface="Geist"/>
              </a:rPr>
              <a:t>•  Web and mobile test suites · accuracy benchmark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89788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 i="0">
                <a:solidFill>
                  <a:srgbClr val="F2F0EA"/>
                </a:solidFill>
                <a:latin typeface="Bricolage Grotesque"/>
              </a:rPr>
              <a:t>ProofLens helps people say exactly what their evidence supports, </a:t>
            </a:r>
            <a:r>
              <a:rPr sz="2000" b="1" i="0">
                <a:solidFill>
                  <a:srgbClr val="FF6A3D"/>
                </a:solidFill>
                <a:latin typeface="Bricolage Grotesque"/>
              </a:rPr>
              <a:t>and show the page that proves 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